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6858000" cy="9144000"/>
  <p:embeddedFontLst>
    <p:embeddedFont>
      <p:font typeface="Montserrat Black"/>
      <p:bold r:id="rId13"/>
      <p:boldItalic r:id="rId14"/>
    </p:embeddedFont>
    <p:embeddedFont>
      <p:font typeface="Montserrat"/>
      <p:regular r:id="rId15"/>
      <p:bold r:id="rId16"/>
      <p:italic r:id="rId17"/>
      <p:boldItalic r:id="rId18"/>
    </p:embeddedFont>
    <p:embeddedFont>
      <p:font typeface="Montserrat Light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Light-bold.fntdata"/><Relationship Id="rId11" Type="http://schemas.openxmlformats.org/officeDocument/2006/relationships/slide" Target="slides/slide7.xml"/><Relationship Id="rId22" Type="http://schemas.openxmlformats.org/officeDocument/2006/relationships/font" Target="fonts/MontserratLight-boldItalic.fntdata"/><Relationship Id="rId10" Type="http://schemas.openxmlformats.org/officeDocument/2006/relationships/slide" Target="slides/slide6.xml"/><Relationship Id="rId21" Type="http://schemas.openxmlformats.org/officeDocument/2006/relationships/font" Target="fonts/MontserratLight-italic.fntdata"/><Relationship Id="rId13" Type="http://schemas.openxmlformats.org/officeDocument/2006/relationships/font" Target="fonts/MontserratBlack-bold.fnt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ontserrat-regular.fntdata"/><Relationship Id="rId14" Type="http://schemas.openxmlformats.org/officeDocument/2006/relationships/font" Target="fonts/MontserratBlack-boldItalic.fntdata"/><Relationship Id="rId17" Type="http://schemas.openxmlformats.org/officeDocument/2006/relationships/font" Target="fonts/Montserrat-italic.fntdata"/><Relationship Id="rId16" Type="http://schemas.openxmlformats.org/officeDocument/2006/relationships/font" Target="fonts/Montserrat-bold.fntdata"/><Relationship Id="rId5" Type="http://schemas.openxmlformats.org/officeDocument/2006/relationships/slide" Target="slides/slide1.xml"/><Relationship Id="rId19" Type="http://schemas.openxmlformats.org/officeDocument/2006/relationships/font" Target="fonts/MontserratLight-regular.fntdata"/><Relationship Id="rId6" Type="http://schemas.openxmlformats.org/officeDocument/2006/relationships/slide" Target="slides/slide2.xml"/><Relationship Id="rId18" Type="http://schemas.openxmlformats.org/officeDocument/2006/relationships/font" Target="fonts/Montserrat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9686ff208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9686ff208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686ff208d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686ff208d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686ff208d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686ff208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9686ff208d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9686ff208d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c9743b3de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c9743b3de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41c867da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941c867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966e64169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966e64169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5094275" y="2925550"/>
            <a:ext cx="34179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800">
                <a:solidFill>
                  <a:srgbClr val="008629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Diseños </a:t>
            </a:r>
            <a:r>
              <a:rPr lang="es-419" sz="4800">
                <a:solidFill>
                  <a:srgbClr val="D9EAD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Front</a:t>
            </a:r>
            <a:r>
              <a:rPr lang="es-419" sz="4800">
                <a:solidFill>
                  <a:srgbClr val="008629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End Software</a:t>
            </a:r>
            <a:endParaRPr sz="4800">
              <a:solidFill>
                <a:srgbClr val="008629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47500" y="652350"/>
            <a:ext cx="3963300" cy="11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800">
                <a:solidFill>
                  <a:srgbClr val="008629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PALMA</a:t>
            </a:r>
            <a:endParaRPr sz="4800">
              <a:solidFill>
                <a:srgbClr val="008629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800">
                <a:solidFill>
                  <a:srgbClr val="008629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SOFTWARE</a:t>
            </a:r>
            <a:endParaRPr sz="4800">
              <a:solidFill>
                <a:srgbClr val="008629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/>
        </p:nvSpPr>
        <p:spPr>
          <a:xfrm>
            <a:off x="2413955" y="501584"/>
            <a:ext cx="43161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rgbClr val="008629"/>
                </a:solidFill>
              </a:rPr>
              <a:t>NÙMERO DE INTERFACES</a:t>
            </a:r>
            <a:endParaRPr b="1" sz="1800">
              <a:solidFill>
                <a:srgbClr val="008629"/>
              </a:solidFill>
            </a:endParaRPr>
          </a:p>
        </p:txBody>
      </p:sp>
      <p:sp>
        <p:nvSpPr>
          <p:cNvPr id="61" name="Google Shape;61;p14"/>
          <p:cNvSpPr txBox="1"/>
          <p:nvPr/>
        </p:nvSpPr>
        <p:spPr>
          <a:xfrm>
            <a:off x="1012650" y="1287050"/>
            <a:ext cx="71187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LOGIN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FRAMES (elección donde quiero ir)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CAJA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FACTURACIÓN ELECTRÓNICA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DEVOLUCIONES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RECIBO DE PROVEEDORES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FACTURAS</a:t>
            </a:r>
            <a:endParaRPr sz="1800">
              <a:solidFill>
                <a:srgbClr val="188038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INVENTARIOS CONSULTA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800"/>
              <a:buFont typeface="Montserrat"/>
              <a:buAutoNum type="arabicPeriod"/>
            </a:pPr>
            <a:r>
              <a:rPr lang="es-419" sz="18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INVENTARIOS MODIFICACIÓN</a:t>
            </a:r>
            <a:endParaRPr sz="1800">
              <a:solidFill>
                <a:srgbClr val="18803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188038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8629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/>
          <p:nvPr/>
        </p:nvSpPr>
        <p:spPr>
          <a:xfrm>
            <a:off x="2914050" y="757200"/>
            <a:ext cx="3315900" cy="3629100"/>
          </a:xfrm>
          <a:prstGeom prst="roundRect">
            <a:avLst>
              <a:gd fmla="val 3582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480875" y="3549725"/>
            <a:ext cx="1503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 u="sng">
                <a:solidFill>
                  <a:srgbClr val="93C47D"/>
                </a:solidFill>
              </a:rPr>
              <a:t>¿Olvidaste el usuario?</a:t>
            </a:r>
            <a:endParaRPr b="1" sz="800">
              <a:solidFill>
                <a:srgbClr val="93C47D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 u="sng">
                <a:solidFill>
                  <a:srgbClr val="93C47D"/>
                </a:solidFill>
              </a:rPr>
              <a:t>¿Olvidaste la contraseña?</a:t>
            </a:r>
            <a:endParaRPr sz="800" u="sng">
              <a:solidFill>
                <a:srgbClr val="93C47D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 u="sng">
                <a:solidFill>
                  <a:srgbClr val="93C47D"/>
                </a:solidFill>
              </a:rPr>
              <a:t>Ayuda</a:t>
            </a:r>
            <a:endParaRPr sz="800" u="sng">
              <a:solidFill>
                <a:srgbClr val="93C47D"/>
              </a:solidFill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3163875" y="2487313"/>
            <a:ext cx="2820000" cy="401700"/>
          </a:xfrm>
          <a:prstGeom prst="roundRect">
            <a:avLst>
              <a:gd fmla="val 26475" name="adj"/>
            </a:avLst>
          </a:prstGeom>
          <a:solidFill>
            <a:srgbClr val="D9EAD3"/>
          </a:solidFill>
          <a:ln cap="flat" cmpd="sng" w="9525">
            <a:solidFill>
              <a:srgbClr val="D9EA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79999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900">
                <a:solidFill>
                  <a:srgbClr val="93C47D"/>
                </a:solidFill>
                <a:latin typeface="Montserrat"/>
                <a:ea typeface="Montserrat"/>
                <a:cs typeface="Montserrat"/>
                <a:sym typeface="Montserrat"/>
              </a:rPr>
              <a:t>Usuario</a:t>
            </a:r>
            <a:endParaRPr sz="900">
              <a:solidFill>
                <a:srgbClr val="93C47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3160100" y="2989588"/>
            <a:ext cx="2820000" cy="401700"/>
          </a:xfrm>
          <a:prstGeom prst="roundRect">
            <a:avLst>
              <a:gd fmla="val 26475" name="adj"/>
            </a:avLst>
          </a:prstGeom>
          <a:solidFill>
            <a:srgbClr val="D9EAD3"/>
          </a:solidFill>
          <a:ln cap="flat" cmpd="sng" w="9525">
            <a:solidFill>
              <a:srgbClr val="D9EA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179999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900">
                <a:solidFill>
                  <a:srgbClr val="93C47D"/>
                </a:solidFill>
                <a:latin typeface="Montserrat"/>
                <a:ea typeface="Montserrat"/>
                <a:cs typeface="Montserrat"/>
                <a:sym typeface="Montserrat"/>
              </a:rPr>
              <a:t>Contraseña</a:t>
            </a:r>
            <a:endParaRPr sz="900">
              <a:solidFill>
                <a:srgbClr val="93C47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3160112" y="3625925"/>
            <a:ext cx="1171800" cy="401700"/>
          </a:xfrm>
          <a:prstGeom prst="roundRect">
            <a:avLst>
              <a:gd fmla="val 26475" name="adj"/>
            </a:avLst>
          </a:prstGeom>
          <a:solidFill>
            <a:srgbClr val="188038"/>
          </a:solidFill>
          <a:ln cap="flat" cmpd="sng" w="952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ENTRAR</a:t>
            </a:r>
            <a:endParaRPr b="1" sz="11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96125" y="1882475"/>
            <a:ext cx="15555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100">
                <a:solidFill>
                  <a:srgbClr val="6AA84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PALMA</a:t>
            </a:r>
            <a:endParaRPr sz="2800">
              <a:solidFill>
                <a:srgbClr val="6AA84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8629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/>
          <p:nvPr/>
        </p:nvSpPr>
        <p:spPr>
          <a:xfrm>
            <a:off x="1822063" y="792750"/>
            <a:ext cx="1774800" cy="1774800"/>
          </a:xfrm>
          <a:prstGeom prst="roundRect">
            <a:avLst>
              <a:gd fmla="val 10491" name="adj"/>
            </a:avLst>
          </a:prstGeom>
          <a:solidFill>
            <a:srgbClr val="274E13"/>
          </a:solidFill>
          <a:ln cap="flat" cmpd="sng" w="1222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VENTAS</a:t>
            </a:r>
            <a:endParaRPr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3684594" y="792750"/>
            <a:ext cx="1774800" cy="17748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INVENTARIOS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1822063" y="2644357"/>
            <a:ext cx="1774800" cy="17748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FINANZAS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3684594" y="2644357"/>
            <a:ext cx="1774800" cy="17748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PERSONAL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5547125" y="792750"/>
            <a:ext cx="1774800" cy="36264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CUENTA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8629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/>
          <p:nvPr/>
        </p:nvSpPr>
        <p:spPr>
          <a:xfrm>
            <a:off x="1822049" y="741504"/>
            <a:ext cx="5499900" cy="1774800"/>
          </a:xfrm>
          <a:prstGeom prst="roundRect">
            <a:avLst>
              <a:gd fmla="val 10491" name="adj"/>
            </a:avLst>
          </a:prstGeom>
          <a:solidFill>
            <a:srgbClr val="274E13"/>
          </a:solidFill>
          <a:ln cap="flat" cmpd="sng" w="1222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VENTAS</a:t>
            </a:r>
            <a:endParaRPr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86" name="Google Shape;86;p17"/>
          <p:cNvSpPr/>
          <p:nvPr/>
        </p:nvSpPr>
        <p:spPr>
          <a:xfrm>
            <a:off x="1822075" y="2601607"/>
            <a:ext cx="1774800" cy="17748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FINANZAS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87" name="Google Shape;87;p17"/>
          <p:cNvSpPr/>
          <p:nvPr/>
        </p:nvSpPr>
        <p:spPr>
          <a:xfrm>
            <a:off x="3684606" y="2601607"/>
            <a:ext cx="1774800" cy="17748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PERSONAL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5547119" y="2601600"/>
            <a:ext cx="1774800" cy="1774800"/>
          </a:xfrm>
          <a:prstGeom prst="roundRect">
            <a:avLst>
              <a:gd fmla="val 10491" name="adj"/>
            </a:avLst>
          </a:prstGeom>
          <a:solidFill>
            <a:schemeClr val="lt1"/>
          </a:solidFill>
          <a:ln cap="flat" cmpd="sng" w="122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7225" lIns="117225" spcFirstLastPara="1" rIns="117225" wrap="square" tIns="1172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38761D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INVENTARIOS</a:t>
            </a:r>
            <a:endParaRPr>
              <a:solidFill>
                <a:srgbClr val="38761D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E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2719551" y="499472"/>
            <a:ext cx="6348000" cy="4106100"/>
          </a:xfrm>
          <a:prstGeom prst="roundRect">
            <a:avLst>
              <a:gd fmla="val 2154" name="adj"/>
            </a:avLst>
          </a:prstGeom>
          <a:solidFill>
            <a:schemeClr val="lt1"/>
          </a:solidFill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74E13"/>
              </a:solidFill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2719550" y="70775"/>
            <a:ext cx="1372800" cy="364500"/>
          </a:xfrm>
          <a:prstGeom prst="roundRect">
            <a:avLst>
              <a:gd fmla="val 2333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CAJA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4719801" y="4689650"/>
            <a:ext cx="1003500" cy="364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AGREGAR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96" name="Google Shape;96;p18"/>
          <p:cNvSpPr/>
          <p:nvPr/>
        </p:nvSpPr>
        <p:spPr>
          <a:xfrm>
            <a:off x="5802051" y="4689650"/>
            <a:ext cx="1003500" cy="364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ELIMINAR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97" name="Google Shape;97;p18"/>
          <p:cNvSpPr/>
          <p:nvPr/>
        </p:nvSpPr>
        <p:spPr>
          <a:xfrm>
            <a:off x="6884301" y="4689650"/>
            <a:ext cx="978900" cy="364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MODIFICAR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98" name="Google Shape;98;p18"/>
          <p:cNvSpPr/>
          <p:nvPr/>
        </p:nvSpPr>
        <p:spPr>
          <a:xfrm>
            <a:off x="58889" y="69472"/>
            <a:ext cx="2574000" cy="1221000"/>
          </a:xfrm>
          <a:prstGeom prst="roundRect">
            <a:avLst>
              <a:gd fmla="val 9358" name="adj"/>
            </a:avLst>
          </a:prstGeom>
          <a:solidFill>
            <a:srgbClr val="008629"/>
          </a:solidFill>
          <a:ln cap="flat" cmpd="sng" w="9525">
            <a:solidFill>
              <a:srgbClr val="0086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99" name="Google Shape;99;p18"/>
          <p:cNvSpPr/>
          <p:nvPr/>
        </p:nvSpPr>
        <p:spPr>
          <a:xfrm>
            <a:off x="58889" y="1384638"/>
            <a:ext cx="2574000" cy="1221000"/>
          </a:xfrm>
          <a:prstGeom prst="roundRect">
            <a:avLst>
              <a:gd fmla="val 93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100" name="Google Shape;100;p18"/>
          <p:cNvSpPr/>
          <p:nvPr/>
        </p:nvSpPr>
        <p:spPr>
          <a:xfrm>
            <a:off x="58889" y="2699798"/>
            <a:ext cx="2574000" cy="1221000"/>
          </a:xfrm>
          <a:prstGeom prst="roundRect">
            <a:avLst>
              <a:gd fmla="val 9358" name="adj"/>
            </a:avLst>
          </a:prstGeom>
          <a:solidFill>
            <a:srgbClr val="E0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101" name="Google Shape;101;p18"/>
          <p:cNvSpPr txBox="1"/>
          <p:nvPr/>
        </p:nvSpPr>
        <p:spPr>
          <a:xfrm>
            <a:off x="306333" y="179647"/>
            <a:ext cx="14523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lt1"/>
                </a:solidFill>
              </a:rPr>
              <a:t>Total a pagar:</a:t>
            </a:r>
            <a:endParaRPr b="1" sz="1000">
              <a:solidFill>
                <a:schemeClr val="lt1"/>
              </a:solidFill>
            </a:endParaRPr>
          </a:p>
        </p:txBody>
      </p:sp>
      <p:sp>
        <p:nvSpPr>
          <p:cNvPr id="102" name="Google Shape;102;p18"/>
          <p:cNvSpPr txBox="1"/>
          <p:nvPr/>
        </p:nvSpPr>
        <p:spPr>
          <a:xfrm>
            <a:off x="268885" y="1515040"/>
            <a:ext cx="14523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rgbClr val="38761D"/>
                </a:solidFill>
              </a:rPr>
              <a:t>Efectivo</a:t>
            </a:r>
            <a:endParaRPr b="1" sz="1000">
              <a:solidFill>
                <a:srgbClr val="38761D"/>
              </a:solidFill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268898" y="2776176"/>
            <a:ext cx="15588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lt1"/>
                </a:solidFill>
              </a:rPr>
              <a:t>Cambio</a:t>
            </a:r>
            <a:endParaRPr b="1" sz="1000">
              <a:solidFill>
                <a:schemeClr val="lt1"/>
              </a:solidFill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291025" y="564318"/>
            <a:ext cx="2114100" cy="5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3500">
                <a:solidFill>
                  <a:schemeClr val="lt1"/>
                </a:solidFill>
              </a:rPr>
              <a:t>$123.000</a:t>
            </a:r>
            <a:endParaRPr b="1" sz="3500">
              <a:solidFill>
                <a:schemeClr val="lt1"/>
              </a:solidFill>
            </a:endParaRPr>
          </a:p>
        </p:txBody>
      </p:sp>
      <p:sp>
        <p:nvSpPr>
          <p:cNvPr id="105" name="Google Shape;105;p18"/>
          <p:cNvSpPr txBox="1"/>
          <p:nvPr/>
        </p:nvSpPr>
        <p:spPr>
          <a:xfrm>
            <a:off x="306328" y="1920961"/>
            <a:ext cx="21141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3500">
                <a:solidFill>
                  <a:srgbClr val="008629"/>
                </a:solidFill>
              </a:rPr>
              <a:t>$150.000</a:t>
            </a:r>
            <a:endParaRPr b="1" sz="3500">
              <a:solidFill>
                <a:srgbClr val="008629"/>
              </a:solidFill>
            </a:endParaRPr>
          </a:p>
        </p:txBody>
      </p:sp>
      <p:sp>
        <p:nvSpPr>
          <p:cNvPr id="106" name="Google Shape;106;p18"/>
          <p:cNvSpPr txBox="1"/>
          <p:nvPr/>
        </p:nvSpPr>
        <p:spPr>
          <a:xfrm>
            <a:off x="370225" y="3276018"/>
            <a:ext cx="21141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3500">
                <a:solidFill>
                  <a:schemeClr val="lt1"/>
                </a:solidFill>
              </a:rPr>
              <a:t>$27.000</a:t>
            </a:r>
            <a:endParaRPr b="1" sz="3500">
              <a:solidFill>
                <a:schemeClr val="lt1"/>
              </a:solidFill>
            </a:endParaRPr>
          </a:p>
        </p:txBody>
      </p:sp>
      <p:sp>
        <p:nvSpPr>
          <p:cNvPr id="107" name="Google Shape;107;p18"/>
          <p:cNvSpPr txBox="1"/>
          <p:nvPr/>
        </p:nvSpPr>
        <p:spPr>
          <a:xfrm>
            <a:off x="3619805" y="578484"/>
            <a:ext cx="43161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rgbClr val="008629"/>
                </a:solidFill>
              </a:rPr>
              <a:t>FACTURACIÓN</a:t>
            </a:r>
            <a:endParaRPr b="1" sz="1800">
              <a:solidFill>
                <a:srgbClr val="008629"/>
              </a:solidFill>
            </a:endParaRPr>
          </a:p>
        </p:txBody>
      </p:sp>
      <p:sp>
        <p:nvSpPr>
          <p:cNvPr id="108" name="Google Shape;108;p18"/>
          <p:cNvSpPr txBox="1"/>
          <p:nvPr/>
        </p:nvSpPr>
        <p:spPr>
          <a:xfrm>
            <a:off x="2719550" y="1034272"/>
            <a:ext cx="63480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ID			NOMBRE				CANTIDAD/ PESO			PRECIO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109" name="Google Shape;109;p18"/>
          <p:cNvSpPr/>
          <p:nvPr/>
        </p:nvSpPr>
        <p:spPr>
          <a:xfrm>
            <a:off x="7935902" y="4689650"/>
            <a:ext cx="1136700" cy="364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BUSCAR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110" name="Google Shape;110;p18"/>
          <p:cNvSpPr/>
          <p:nvPr/>
        </p:nvSpPr>
        <p:spPr>
          <a:xfrm>
            <a:off x="2719552" y="4689650"/>
            <a:ext cx="1921500" cy="364500"/>
          </a:xfrm>
          <a:prstGeom prst="roundRect">
            <a:avLst>
              <a:gd fmla="val 16667" name="adj"/>
            </a:avLst>
          </a:prstGeom>
          <a:solidFill>
            <a:srgbClr val="008629"/>
          </a:solidFill>
          <a:ln cap="flat" cmpd="sng" w="19050">
            <a:solidFill>
              <a:srgbClr val="0086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chemeClr val="lt1"/>
                </a:solidFill>
              </a:rPr>
              <a:t>COBRAR</a:t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111" name="Google Shape;111;p18"/>
          <p:cNvSpPr/>
          <p:nvPr/>
        </p:nvSpPr>
        <p:spPr>
          <a:xfrm>
            <a:off x="8680692" y="69468"/>
            <a:ext cx="383700" cy="364500"/>
          </a:xfrm>
          <a:prstGeom prst="roundRect">
            <a:avLst>
              <a:gd fmla="val 2333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X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5676050" y="70768"/>
            <a:ext cx="1409100" cy="364500"/>
          </a:xfrm>
          <a:prstGeom prst="roundRect">
            <a:avLst>
              <a:gd fmla="val 2333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DEVOLUCIONES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4160900" y="70768"/>
            <a:ext cx="1452300" cy="364500"/>
          </a:xfrm>
          <a:prstGeom prst="roundRect">
            <a:avLst>
              <a:gd fmla="val 2333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FACTURA</a:t>
            </a:r>
            <a:br>
              <a:rPr b="1" lang="es-419" sz="800">
                <a:solidFill>
                  <a:srgbClr val="008629"/>
                </a:solidFill>
              </a:rPr>
            </a:br>
            <a:r>
              <a:rPr b="1" lang="es-419" sz="800">
                <a:solidFill>
                  <a:srgbClr val="008629"/>
                </a:solidFill>
              </a:rPr>
              <a:t>ELECTRÓNICA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114" name="Google Shape;114;p18"/>
          <p:cNvSpPr/>
          <p:nvPr/>
        </p:nvSpPr>
        <p:spPr>
          <a:xfrm>
            <a:off x="7148000" y="70768"/>
            <a:ext cx="1452300" cy="364500"/>
          </a:xfrm>
          <a:prstGeom prst="roundRect">
            <a:avLst>
              <a:gd fmla="val 2333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RECIBO</a:t>
            </a:r>
            <a:endParaRPr b="1" sz="800">
              <a:solidFill>
                <a:srgbClr val="00862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PROVEEDORES</a:t>
            </a:r>
            <a:endParaRPr b="1" sz="800">
              <a:solidFill>
                <a:srgbClr val="00862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FEFE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/>
          <p:nvPr/>
        </p:nvSpPr>
        <p:spPr>
          <a:xfrm>
            <a:off x="129500" y="987950"/>
            <a:ext cx="8903700" cy="4062600"/>
          </a:xfrm>
          <a:prstGeom prst="roundRect">
            <a:avLst>
              <a:gd fmla="val 2154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74E13"/>
              </a:solidFill>
            </a:endParaRPr>
          </a:p>
        </p:txBody>
      </p:sp>
      <p:sp>
        <p:nvSpPr>
          <p:cNvPr id="120" name="Google Shape;120;p19"/>
          <p:cNvSpPr txBox="1"/>
          <p:nvPr/>
        </p:nvSpPr>
        <p:spPr>
          <a:xfrm>
            <a:off x="2385955" y="1114420"/>
            <a:ext cx="4316100" cy="2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rgbClr val="008629"/>
                </a:solidFill>
              </a:rPr>
              <a:t>FACTURAS</a:t>
            </a:r>
            <a:endParaRPr b="1" sz="1800">
              <a:solidFill>
                <a:srgbClr val="008629"/>
              </a:solidFill>
            </a:endParaRPr>
          </a:p>
        </p:txBody>
      </p:sp>
      <p:sp>
        <p:nvSpPr>
          <p:cNvPr id="121" name="Google Shape;121;p19"/>
          <p:cNvSpPr txBox="1"/>
          <p:nvPr/>
        </p:nvSpPr>
        <p:spPr>
          <a:xfrm>
            <a:off x="53125" y="1418759"/>
            <a:ext cx="8986500" cy="2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rgbClr val="008629"/>
                </a:solidFill>
              </a:rPr>
              <a:t>ID FACTURA			ID CLIENTE			FECHA			NOMBRE CLIENTE			TOTAL		PDF</a:t>
            </a:r>
            <a:endParaRPr b="1" sz="800">
              <a:solidFill>
                <a:srgbClr val="008629"/>
              </a:solidFill>
            </a:endParaRPr>
          </a:p>
        </p:txBody>
      </p:sp>
      <p:sp>
        <p:nvSpPr>
          <p:cNvPr id="122" name="Google Shape;122;p19"/>
          <p:cNvSpPr/>
          <p:nvPr/>
        </p:nvSpPr>
        <p:spPr>
          <a:xfrm>
            <a:off x="6915167" y="92825"/>
            <a:ext cx="1662900" cy="364500"/>
          </a:xfrm>
          <a:prstGeom prst="roundRect">
            <a:avLst>
              <a:gd fmla="val 16667" name="adj"/>
            </a:avLst>
          </a:prstGeom>
          <a:solidFill>
            <a:srgbClr val="008629"/>
          </a:solidFill>
          <a:ln cap="flat" cmpd="sng" w="9525">
            <a:solidFill>
              <a:srgbClr val="0086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800">
                <a:solidFill>
                  <a:schemeClr val="lt1"/>
                </a:solidFill>
              </a:rPr>
              <a:t>BUSCAR</a:t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123" name="Google Shape;123;p19"/>
          <p:cNvSpPr/>
          <p:nvPr/>
        </p:nvSpPr>
        <p:spPr>
          <a:xfrm>
            <a:off x="8649534" y="92825"/>
            <a:ext cx="383700" cy="364500"/>
          </a:xfrm>
          <a:prstGeom prst="roundRect">
            <a:avLst>
              <a:gd fmla="val 23333" name="adj"/>
            </a:avLst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000">
                <a:solidFill>
                  <a:srgbClr val="008629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X</a:t>
            </a:r>
            <a:endParaRPr sz="1000">
              <a:solidFill>
                <a:srgbClr val="008629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24" name="Google Shape;124;p19"/>
          <p:cNvSpPr/>
          <p:nvPr/>
        </p:nvSpPr>
        <p:spPr>
          <a:xfrm>
            <a:off x="129492" y="92825"/>
            <a:ext cx="6714300" cy="36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>
                <a:solidFill>
                  <a:srgbClr val="CCCCCC"/>
                </a:solidFill>
              </a:rPr>
              <a:t>Buscar por </a:t>
            </a:r>
            <a:r>
              <a:rPr lang="es-419" sz="800">
                <a:solidFill>
                  <a:srgbClr val="CCCCCC"/>
                </a:solidFill>
              </a:rPr>
              <a:t>número</a:t>
            </a:r>
            <a:r>
              <a:rPr lang="es-419" sz="800">
                <a:solidFill>
                  <a:srgbClr val="CCCCCC"/>
                </a:solidFill>
              </a:rPr>
              <a:t> de factura. nombre de cliente etc…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2983749" y="540388"/>
            <a:ext cx="1339500" cy="36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>
                <a:solidFill>
                  <a:srgbClr val="CCCCCC"/>
                </a:solidFill>
              </a:rPr>
              <a:t>Filtrar por fecha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126" name="Google Shape;126;p19"/>
          <p:cNvSpPr/>
          <p:nvPr/>
        </p:nvSpPr>
        <p:spPr>
          <a:xfrm>
            <a:off x="129499" y="540375"/>
            <a:ext cx="1339500" cy="36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>
                <a:solidFill>
                  <a:srgbClr val="CCCCCC"/>
                </a:solidFill>
              </a:rPr>
              <a:t>Más recientes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127" name="Google Shape;127;p19"/>
          <p:cNvSpPr/>
          <p:nvPr/>
        </p:nvSpPr>
        <p:spPr>
          <a:xfrm>
            <a:off x="1556624" y="540375"/>
            <a:ext cx="1339500" cy="36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800">
                <a:solidFill>
                  <a:srgbClr val="CCCCCC"/>
                </a:solidFill>
              </a:rPr>
              <a:t>Más Antiguas</a:t>
            </a:r>
            <a:endParaRPr sz="800">
              <a:solidFill>
                <a:srgbClr val="CCCCCC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