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Montserrat Black"/>
      <p:bold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Montserrat Light"/>
      <p:regular r:id="rId26"/>
      <p:bold r:id="rId27"/>
      <p:italic r:id="rId28"/>
      <p:boldItalic r:id="rId29"/>
    </p:embeddedFont>
    <p:embeddedFont>
      <p:font typeface="Montserrat ExtraBold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Black-bold.fntdata"/><Relationship Id="rId22" Type="http://schemas.openxmlformats.org/officeDocument/2006/relationships/font" Target="fonts/Montserrat-regular.fntdata"/><Relationship Id="rId21" Type="http://schemas.openxmlformats.org/officeDocument/2006/relationships/font" Target="fonts/MontserratBlack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Light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Light-italic.fntdata"/><Relationship Id="rId27" Type="http://schemas.openxmlformats.org/officeDocument/2006/relationships/font" Target="fonts/MontserratLigh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Ligh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tserratExtraBold-boldItalic.fntdata"/><Relationship Id="rId30" Type="http://schemas.openxmlformats.org/officeDocument/2006/relationships/font" Target="fonts/MontserratExtraBold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686ff20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686ff20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686ff208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686ff208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686ff208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686ff208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686ff208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686ff208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9743b3d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9743b3d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686ff208d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686ff208d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686ff208d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686ff208d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686ff208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686ff208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686ff208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686ff208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41c867d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941c867d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686ff208d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686ff208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686ff208d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686ff208d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686ff208d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9686ff208d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686ff208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686ff208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094275" y="2925550"/>
            <a:ext cx="34179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800">
                <a:solidFill>
                  <a:srgbClr val="00862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Diseños </a:t>
            </a:r>
            <a:r>
              <a:rPr lang="es-419" sz="4800">
                <a:solidFill>
                  <a:srgbClr val="D9EAD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Front</a:t>
            </a:r>
            <a:r>
              <a:rPr lang="es-419" sz="4800">
                <a:solidFill>
                  <a:srgbClr val="00862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End Software</a:t>
            </a:r>
            <a:endParaRPr sz="4800">
              <a:solidFill>
                <a:srgbClr val="00862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47500" y="652350"/>
            <a:ext cx="39633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800">
                <a:solidFill>
                  <a:srgbClr val="00862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PALMA</a:t>
            </a:r>
            <a:endParaRPr sz="4800">
              <a:solidFill>
                <a:srgbClr val="00862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800">
                <a:solidFill>
                  <a:srgbClr val="00862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SOFTWARE</a:t>
            </a:r>
            <a:endParaRPr sz="4800">
              <a:solidFill>
                <a:srgbClr val="00862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413955" y="501584"/>
            <a:ext cx="43161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008629"/>
                </a:solidFill>
              </a:rPr>
              <a:t>NÙMERO DE INTERFACES</a:t>
            </a:r>
            <a:endParaRPr b="1" sz="1800">
              <a:solidFill>
                <a:srgbClr val="008629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012650" y="1287050"/>
            <a:ext cx="7118700" cy="3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800"/>
              <a:buFont typeface="Montserrat"/>
              <a:buAutoNum type="arabicPeriod"/>
            </a:pPr>
            <a:r>
              <a:rPr lang="es-419" sz="18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LOGIN edwyn</a:t>
            </a:r>
            <a:endParaRPr sz="1800">
              <a:solidFill>
                <a:srgbClr val="1880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800"/>
              <a:buFont typeface="Montserrat"/>
              <a:buAutoNum type="arabicPeriod"/>
            </a:pPr>
            <a:r>
              <a:rPr lang="es-419" sz="18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FRAMES (elección donde quiero ir) </a:t>
            </a:r>
            <a:r>
              <a:rPr lang="es-419" sz="18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edwyn</a:t>
            </a:r>
            <a:endParaRPr sz="1800">
              <a:solidFill>
                <a:srgbClr val="1880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800"/>
              <a:buFont typeface="Montserrat"/>
              <a:buAutoNum type="arabicPeriod"/>
            </a:pPr>
            <a:r>
              <a:rPr lang="es-419" sz="18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CAJA </a:t>
            </a:r>
            <a:r>
              <a:rPr lang="es-419" sz="18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edwyn</a:t>
            </a:r>
            <a:endParaRPr sz="1800">
              <a:solidFill>
                <a:srgbClr val="1880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800"/>
              <a:buFont typeface="Montserrat"/>
              <a:buAutoNum type="arabicPeriod"/>
            </a:pPr>
            <a:r>
              <a:rPr lang="es-419" sz="18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FACTURACIÓN ELECTRÓNICA Alejo</a:t>
            </a:r>
            <a:endParaRPr sz="1800">
              <a:solidFill>
                <a:srgbClr val="1880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800"/>
              <a:buFont typeface="Montserrat"/>
              <a:buAutoNum type="arabicPeriod"/>
            </a:pPr>
            <a:r>
              <a:rPr lang="es-419" sz="18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DEVOLUCIONES </a:t>
            </a:r>
            <a:r>
              <a:rPr lang="es-419" sz="18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Alejo</a:t>
            </a:r>
            <a:endParaRPr sz="1800">
              <a:solidFill>
                <a:srgbClr val="1880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800"/>
              <a:buFont typeface="Montserrat"/>
              <a:buAutoNum type="arabicPeriod"/>
            </a:pPr>
            <a:r>
              <a:rPr lang="es-419" sz="18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RECIBO DE PROVEEDORES </a:t>
            </a:r>
            <a:r>
              <a:rPr lang="es-419" sz="18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Alejo</a:t>
            </a:r>
            <a:endParaRPr sz="1800">
              <a:solidFill>
                <a:srgbClr val="1880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800"/>
              <a:buFont typeface="Montserrat"/>
              <a:buAutoNum type="arabicPeriod"/>
            </a:pPr>
            <a:r>
              <a:rPr lang="es-419" sz="18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FACTURAS Nico</a:t>
            </a:r>
            <a:endParaRPr sz="1800">
              <a:solidFill>
                <a:srgbClr val="188038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800"/>
              <a:buFont typeface="Montserrat"/>
              <a:buAutoNum type="arabicPeriod"/>
            </a:pPr>
            <a:r>
              <a:rPr lang="es-419" sz="18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INVENTARIOS CONSULTA Nico</a:t>
            </a:r>
            <a:endParaRPr sz="1800">
              <a:solidFill>
                <a:srgbClr val="1880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800"/>
              <a:buFont typeface="Montserrat"/>
              <a:buAutoNum type="arabicPeriod"/>
            </a:pPr>
            <a:r>
              <a:rPr lang="es-419" sz="18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INVENTARIOS MODIFICACIÓN </a:t>
            </a:r>
            <a:r>
              <a:rPr lang="es-419" sz="18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Nico</a:t>
            </a:r>
            <a:endParaRPr sz="1800">
              <a:solidFill>
                <a:srgbClr val="1880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800"/>
              <a:buFont typeface="Montserrat"/>
              <a:buAutoNum type="arabicPeriod"/>
            </a:pPr>
            <a:r>
              <a:rPr lang="es-419" sz="18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CUENTAS edwyn</a:t>
            </a:r>
            <a:endParaRPr sz="1800">
              <a:solidFill>
                <a:srgbClr val="1880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8803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629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2914050" y="757200"/>
            <a:ext cx="3315900" cy="3629100"/>
          </a:xfrm>
          <a:prstGeom prst="roundRect">
            <a:avLst>
              <a:gd fmla="val 3582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4480875" y="3549725"/>
            <a:ext cx="150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u="sng">
                <a:solidFill>
                  <a:srgbClr val="93C47D"/>
                </a:solidFill>
              </a:rPr>
              <a:t>¿Olvidaste el usuario?</a:t>
            </a:r>
            <a:endParaRPr b="1" sz="800">
              <a:solidFill>
                <a:srgbClr val="93C47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u="sng">
                <a:solidFill>
                  <a:srgbClr val="93C47D"/>
                </a:solidFill>
              </a:rPr>
              <a:t>¿Olvidaste la contraseña?</a:t>
            </a:r>
            <a:endParaRPr sz="800" u="sng">
              <a:solidFill>
                <a:srgbClr val="93C47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u="sng">
                <a:solidFill>
                  <a:srgbClr val="93C47D"/>
                </a:solidFill>
              </a:rPr>
              <a:t>Ayuda</a:t>
            </a:r>
            <a:endParaRPr sz="800" u="sng">
              <a:solidFill>
                <a:srgbClr val="93C47D"/>
              </a:solidFill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3163875" y="2487313"/>
            <a:ext cx="2820000" cy="401700"/>
          </a:xfrm>
          <a:prstGeom prst="roundRect">
            <a:avLst>
              <a:gd fmla="val 26475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Usuario</a:t>
            </a:r>
            <a:endParaRPr sz="900">
              <a:solidFill>
                <a:srgbClr val="93C47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3160100" y="2989588"/>
            <a:ext cx="2820000" cy="401700"/>
          </a:xfrm>
          <a:prstGeom prst="roundRect">
            <a:avLst>
              <a:gd fmla="val 26475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Contraseña</a:t>
            </a:r>
            <a:endParaRPr sz="900">
              <a:solidFill>
                <a:srgbClr val="93C47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3160112" y="3625925"/>
            <a:ext cx="1171800" cy="401700"/>
          </a:xfrm>
          <a:prstGeom prst="roundRect">
            <a:avLst>
              <a:gd fmla="val 26475" name="adj"/>
            </a:avLst>
          </a:prstGeom>
          <a:solidFill>
            <a:srgbClr val="188038"/>
          </a:solidFill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ENTRAR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96125" y="1882475"/>
            <a:ext cx="15555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rgbClr val="6AA84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PALMA</a:t>
            </a:r>
            <a:endParaRPr sz="2800">
              <a:solidFill>
                <a:srgbClr val="6AA84F"/>
              </a:solidFill>
            </a:endParaRPr>
          </a:p>
        </p:txBody>
      </p:sp>
      <p:pic>
        <p:nvPicPr>
          <p:cNvPr id="72" name="Google Shape;72;p15" title="logo_palm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7351" y="987050"/>
            <a:ext cx="942125" cy="9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629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1822063" y="792750"/>
            <a:ext cx="1774800" cy="1774800"/>
          </a:xfrm>
          <a:prstGeom prst="roundRect">
            <a:avLst>
              <a:gd fmla="val 10491" name="adj"/>
            </a:avLst>
          </a:prstGeom>
          <a:solidFill>
            <a:srgbClr val="274E13"/>
          </a:solidFill>
          <a:ln cap="flat" cmpd="sng" w="122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225" lIns="117225" spcFirstLastPara="1" rIns="117225" wrap="square" tIns="11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VENTAS</a:t>
            </a:r>
            <a:endParaRPr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3684594" y="792750"/>
            <a:ext cx="1774800" cy="1774800"/>
          </a:xfrm>
          <a:prstGeom prst="roundRect">
            <a:avLst>
              <a:gd fmla="val 10491" name="adj"/>
            </a:avLst>
          </a:prstGeom>
          <a:solidFill>
            <a:schemeClr val="lt1"/>
          </a:solidFill>
          <a:ln cap="flat" cmpd="sng" w="12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225" lIns="117225" spcFirstLastPara="1" rIns="117225" wrap="square" tIns="11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INVENTARIOS</a:t>
            </a:r>
            <a:endParaRPr>
              <a:solidFill>
                <a:srgbClr val="38761D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1822063" y="2644357"/>
            <a:ext cx="1774800" cy="1774800"/>
          </a:xfrm>
          <a:prstGeom prst="roundRect">
            <a:avLst>
              <a:gd fmla="val 10491" name="adj"/>
            </a:avLst>
          </a:prstGeom>
          <a:solidFill>
            <a:schemeClr val="lt1"/>
          </a:solidFill>
          <a:ln cap="flat" cmpd="sng" w="12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225" lIns="117225" spcFirstLastPara="1" rIns="117225" wrap="square" tIns="11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FINANZAS</a:t>
            </a:r>
            <a:endParaRPr>
              <a:solidFill>
                <a:srgbClr val="38761D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684594" y="2644357"/>
            <a:ext cx="1774800" cy="1774800"/>
          </a:xfrm>
          <a:prstGeom prst="roundRect">
            <a:avLst>
              <a:gd fmla="val 10491" name="adj"/>
            </a:avLst>
          </a:prstGeom>
          <a:solidFill>
            <a:schemeClr val="lt1"/>
          </a:solidFill>
          <a:ln cap="flat" cmpd="sng" w="12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225" lIns="117225" spcFirstLastPara="1" rIns="117225" wrap="square" tIns="11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PERSONAL</a:t>
            </a:r>
            <a:endParaRPr>
              <a:solidFill>
                <a:srgbClr val="38761D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5547125" y="792750"/>
            <a:ext cx="1774800" cy="3626400"/>
          </a:xfrm>
          <a:prstGeom prst="roundRect">
            <a:avLst>
              <a:gd fmla="val 10491" name="adj"/>
            </a:avLst>
          </a:prstGeom>
          <a:solidFill>
            <a:schemeClr val="lt1"/>
          </a:solidFill>
          <a:ln cap="flat" cmpd="sng" w="12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225" lIns="117225" spcFirstLastPara="1" rIns="117225" wrap="square" tIns="11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CUENTA</a:t>
            </a:r>
            <a:endParaRPr>
              <a:solidFill>
                <a:srgbClr val="38761D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629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1822049" y="741504"/>
            <a:ext cx="5499900" cy="1774800"/>
          </a:xfrm>
          <a:prstGeom prst="roundRect">
            <a:avLst>
              <a:gd fmla="val 10491" name="adj"/>
            </a:avLst>
          </a:prstGeom>
          <a:solidFill>
            <a:srgbClr val="274E13"/>
          </a:solidFill>
          <a:ln cap="flat" cmpd="sng" w="122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225" lIns="117225" spcFirstLastPara="1" rIns="117225" wrap="square" tIns="11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VENTAS</a:t>
            </a:r>
            <a:endParaRPr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1822075" y="2601607"/>
            <a:ext cx="1774800" cy="1774800"/>
          </a:xfrm>
          <a:prstGeom prst="roundRect">
            <a:avLst>
              <a:gd fmla="val 10491" name="adj"/>
            </a:avLst>
          </a:prstGeom>
          <a:solidFill>
            <a:schemeClr val="lt1"/>
          </a:solidFill>
          <a:ln cap="flat" cmpd="sng" w="12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225" lIns="117225" spcFirstLastPara="1" rIns="117225" wrap="square" tIns="11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FINANZAS</a:t>
            </a:r>
            <a:endParaRPr>
              <a:solidFill>
                <a:srgbClr val="38761D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3684606" y="2601607"/>
            <a:ext cx="1774800" cy="1774800"/>
          </a:xfrm>
          <a:prstGeom prst="roundRect">
            <a:avLst>
              <a:gd fmla="val 10491" name="adj"/>
            </a:avLst>
          </a:prstGeom>
          <a:solidFill>
            <a:schemeClr val="lt1"/>
          </a:solidFill>
          <a:ln cap="flat" cmpd="sng" w="12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225" lIns="117225" spcFirstLastPara="1" rIns="117225" wrap="square" tIns="11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PERSONAL</a:t>
            </a:r>
            <a:endParaRPr>
              <a:solidFill>
                <a:srgbClr val="38761D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5547119" y="2601600"/>
            <a:ext cx="1774800" cy="1774800"/>
          </a:xfrm>
          <a:prstGeom prst="roundRect">
            <a:avLst>
              <a:gd fmla="val 10491" name="adj"/>
            </a:avLst>
          </a:prstGeom>
          <a:solidFill>
            <a:schemeClr val="lt1"/>
          </a:solidFill>
          <a:ln cap="flat" cmpd="sng" w="12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225" lIns="117225" spcFirstLastPara="1" rIns="117225" wrap="square" tIns="11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INVENTARIOS</a:t>
            </a:r>
            <a:endParaRPr>
              <a:solidFill>
                <a:srgbClr val="38761D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2719551" y="499472"/>
            <a:ext cx="6348000" cy="4106100"/>
          </a:xfrm>
          <a:prstGeom prst="roundRect">
            <a:avLst>
              <a:gd fmla="val 2154" name="adj"/>
            </a:avLst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2719550" y="70775"/>
            <a:ext cx="1372800" cy="364500"/>
          </a:xfrm>
          <a:prstGeom prst="roundRect">
            <a:avLst>
              <a:gd fmla="val 2333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CAJA</a:t>
            </a:r>
            <a:endParaRPr sz="8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4719801" y="4689650"/>
            <a:ext cx="1003500" cy="364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AGREGAR</a:t>
            </a:r>
            <a:endParaRPr sz="8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5802051" y="4689650"/>
            <a:ext cx="1003500" cy="364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ELIMINAR</a:t>
            </a:r>
            <a:endParaRPr sz="8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6884301" y="4689650"/>
            <a:ext cx="978900" cy="364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MODIFICAR</a:t>
            </a:r>
            <a:endParaRPr sz="8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58889" y="69472"/>
            <a:ext cx="2574000" cy="1221000"/>
          </a:xfrm>
          <a:prstGeom prst="roundRect">
            <a:avLst>
              <a:gd fmla="val 9358" name="adj"/>
            </a:avLst>
          </a:prstGeom>
          <a:solidFill>
            <a:srgbClr val="008629"/>
          </a:solidFill>
          <a:ln cap="flat" cmpd="sng" w="9525">
            <a:solidFill>
              <a:srgbClr val="008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58889" y="1384638"/>
            <a:ext cx="2574000" cy="1221000"/>
          </a:xfrm>
          <a:prstGeom prst="roundRect">
            <a:avLst>
              <a:gd fmla="val 935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58889" y="2699798"/>
            <a:ext cx="2574000" cy="1221000"/>
          </a:xfrm>
          <a:prstGeom prst="roundRect">
            <a:avLst>
              <a:gd fmla="val 9358" name="adj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306333" y="179647"/>
            <a:ext cx="14523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Total a pagar: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268885" y="1515040"/>
            <a:ext cx="14523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Efectivo</a:t>
            </a:r>
            <a:endParaRPr sz="1000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268898" y="2776176"/>
            <a:ext cx="1558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Cambio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161450" y="564325"/>
            <a:ext cx="2238900" cy="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$123.000</a:t>
            </a:r>
            <a:endParaRPr sz="34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177657" y="1920967"/>
            <a:ext cx="2238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rgbClr val="00862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$150.000</a:t>
            </a:r>
            <a:endParaRPr sz="3400">
              <a:solidFill>
                <a:srgbClr val="00862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245329" y="3276025"/>
            <a:ext cx="2238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$27.000</a:t>
            </a:r>
            <a:endParaRPr sz="34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3619805" y="578484"/>
            <a:ext cx="43161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00862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FACTURACIÓN</a:t>
            </a:r>
            <a:endParaRPr sz="1800">
              <a:solidFill>
                <a:srgbClr val="00862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2719550" y="1034272"/>
            <a:ext cx="63480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ID			NOMBRE				CANTIDAD/ PESO			PRECIO</a:t>
            </a:r>
            <a:endParaRPr sz="8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7935902" y="4689650"/>
            <a:ext cx="1136700" cy="364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BUSCAR</a:t>
            </a:r>
            <a:endParaRPr sz="8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2719552" y="4689650"/>
            <a:ext cx="1921500" cy="364500"/>
          </a:xfrm>
          <a:prstGeom prst="roundRect">
            <a:avLst>
              <a:gd fmla="val 16667" name="adj"/>
            </a:avLst>
          </a:prstGeom>
          <a:solidFill>
            <a:srgbClr val="008629"/>
          </a:solidFill>
          <a:ln cap="flat" cmpd="sng" w="19050">
            <a:solidFill>
              <a:srgbClr val="008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COBRAR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8680692" y="69468"/>
            <a:ext cx="383700" cy="364500"/>
          </a:xfrm>
          <a:prstGeom prst="roundRect">
            <a:avLst>
              <a:gd fmla="val 2333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8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5676050" y="70768"/>
            <a:ext cx="1409100" cy="364500"/>
          </a:xfrm>
          <a:prstGeom prst="roundRect">
            <a:avLst>
              <a:gd fmla="val 2333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DEVOLUCIONES</a:t>
            </a:r>
            <a:endParaRPr sz="8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4160900" y="70768"/>
            <a:ext cx="1452300" cy="364500"/>
          </a:xfrm>
          <a:prstGeom prst="roundRect">
            <a:avLst>
              <a:gd fmla="val 2333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FACTURA</a:t>
            </a:r>
            <a:br>
              <a:rPr lang="es-419" sz="8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419" sz="8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ELECTRÓNICA</a:t>
            </a:r>
            <a:endParaRPr sz="8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7148000" y="70768"/>
            <a:ext cx="1452300" cy="364500"/>
          </a:xfrm>
          <a:prstGeom prst="roundRect">
            <a:avLst>
              <a:gd fmla="val 2333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RECIBO</a:t>
            </a:r>
            <a:endParaRPr sz="8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PROVEEDORES</a:t>
            </a:r>
            <a:endParaRPr sz="8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129500" y="987950"/>
            <a:ext cx="4322100" cy="4062600"/>
          </a:xfrm>
          <a:prstGeom prst="roundRect">
            <a:avLst>
              <a:gd fmla="val 215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6915167" y="92825"/>
            <a:ext cx="1662900" cy="364500"/>
          </a:xfrm>
          <a:prstGeom prst="roundRect">
            <a:avLst>
              <a:gd fmla="val 16667" name="adj"/>
            </a:avLst>
          </a:prstGeom>
          <a:solidFill>
            <a:srgbClr val="008629"/>
          </a:solidFill>
          <a:ln cap="flat" cmpd="sng" w="9525">
            <a:solidFill>
              <a:srgbClr val="008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BUSCAR</a:t>
            </a:r>
            <a:endParaRPr sz="8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8649534" y="92825"/>
            <a:ext cx="383700" cy="364500"/>
          </a:xfrm>
          <a:prstGeom prst="roundRect">
            <a:avLst>
              <a:gd fmla="val 23333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0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129492" y="92825"/>
            <a:ext cx="67143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Buscar por número de factura. nombre de cliente, proveedor…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2983749" y="540388"/>
            <a:ext cx="13395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Filtrar por fecha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129499" y="540375"/>
            <a:ext cx="13395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Más recientes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1556624" y="540375"/>
            <a:ext cx="13395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Más Antiguas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4410875" y="607725"/>
            <a:ext cx="4628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00862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FACTURA </a:t>
            </a:r>
            <a:r>
              <a:rPr lang="es-419" sz="1800">
                <a:solidFill>
                  <a:srgbClr val="00862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ELECTRÓNICA</a:t>
            </a:r>
            <a:endParaRPr sz="1800">
              <a:solidFill>
                <a:srgbClr val="00862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4562525" y="987925"/>
            <a:ext cx="4426800" cy="4062600"/>
          </a:xfrm>
          <a:prstGeom prst="roundRect">
            <a:avLst>
              <a:gd fmla="val 215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577100" y="1555575"/>
            <a:ext cx="3426900" cy="401700"/>
          </a:xfrm>
          <a:prstGeom prst="roundRect">
            <a:avLst>
              <a:gd fmla="val 26475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Razón</a:t>
            </a: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 social</a:t>
            </a:r>
            <a:endParaRPr sz="900">
              <a:solidFill>
                <a:srgbClr val="93C47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1512825" y="1180275"/>
            <a:ext cx="1427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00862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EMPRESA</a:t>
            </a:r>
            <a:endParaRPr>
              <a:solidFill>
                <a:srgbClr val="00862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6062375" y="1180275"/>
            <a:ext cx="1427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00862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CLIENTE</a:t>
            </a:r>
            <a:endParaRPr>
              <a:solidFill>
                <a:srgbClr val="00862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577100" y="2017317"/>
            <a:ext cx="3426900" cy="401700"/>
          </a:xfrm>
          <a:prstGeom prst="roundRect">
            <a:avLst>
              <a:gd fmla="val 26475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NIT</a:t>
            </a:r>
            <a:endParaRPr sz="900">
              <a:solidFill>
                <a:srgbClr val="93C47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577100" y="2479075"/>
            <a:ext cx="3426900" cy="401700"/>
          </a:xfrm>
          <a:prstGeom prst="roundRect">
            <a:avLst>
              <a:gd fmla="val 26475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Régimen</a:t>
            </a: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 Contable</a:t>
            </a:r>
            <a:endParaRPr sz="900">
              <a:solidFill>
                <a:srgbClr val="93C47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577100" y="2940825"/>
            <a:ext cx="3426900" cy="401700"/>
          </a:xfrm>
          <a:prstGeom prst="roundRect">
            <a:avLst>
              <a:gd fmla="val 26475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Dirección</a:t>
            </a:r>
            <a:endParaRPr sz="900">
              <a:solidFill>
                <a:srgbClr val="93C47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577100" y="3402575"/>
            <a:ext cx="3426900" cy="401700"/>
          </a:xfrm>
          <a:prstGeom prst="roundRect">
            <a:avLst>
              <a:gd fmla="val 26475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Ciudad</a:t>
            </a:r>
            <a:endParaRPr sz="900">
              <a:solidFill>
                <a:srgbClr val="93C47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577100" y="3864325"/>
            <a:ext cx="3426900" cy="401700"/>
          </a:xfrm>
          <a:prstGeom prst="roundRect">
            <a:avLst>
              <a:gd fmla="val 26475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Resolución de facturación</a:t>
            </a:r>
            <a:endParaRPr sz="900">
              <a:solidFill>
                <a:srgbClr val="93C47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1279268" y="4454950"/>
            <a:ext cx="1894200" cy="401700"/>
          </a:xfrm>
          <a:prstGeom prst="roundRect">
            <a:avLst>
              <a:gd fmla="val 26475" name="adj"/>
            </a:avLst>
          </a:prstGeom>
          <a:solidFill>
            <a:srgbClr val="188038"/>
          </a:solidFill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GENERAR 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5062475" y="1555575"/>
            <a:ext cx="3426900" cy="401700"/>
          </a:xfrm>
          <a:prstGeom prst="roundRect">
            <a:avLst>
              <a:gd fmla="val 26475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Nombre o </a:t>
            </a: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Razón social</a:t>
            </a:r>
            <a:endParaRPr sz="900">
              <a:solidFill>
                <a:srgbClr val="93C47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5062475" y="2017317"/>
            <a:ext cx="3426900" cy="401700"/>
          </a:xfrm>
          <a:prstGeom prst="roundRect">
            <a:avLst>
              <a:gd fmla="val 26475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Tipo de identificación</a:t>
            </a:r>
            <a:endParaRPr sz="900">
              <a:solidFill>
                <a:srgbClr val="93C47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5062475" y="2479075"/>
            <a:ext cx="3426900" cy="401700"/>
          </a:xfrm>
          <a:prstGeom prst="roundRect">
            <a:avLst>
              <a:gd fmla="val 26475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Número de identificación</a:t>
            </a:r>
            <a:endParaRPr sz="900">
              <a:solidFill>
                <a:srgbClr val="93C47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5062475" y="2940825"/>
            <a:ext cx="3426900" cy="401700"/>
          </a:xfrm>
          <a:prstGeom prst="roundRect">
            <a:avLst>
              <a:gd fmla="val 26475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Correo </a:t>
            </a: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electrónico</a:t>
            </a:r>
            <a:endParaRPr sz="900">
              <a:solidFill>
                <a:srgbClr val="93C47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5062475" y="3402575"/>
            <a:ext cx="3426900" cy="401700"/>
          </a:xfrm>
          <a:prstGeom prst="roundRect">
            <a:avLst>
              <a:gd fmla="val 26475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Ciudad</a:t>
            </a:r>
            <a:endParaRPr sz="900">
              <a:solidFill>
                <a:srgbClr val="93C47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5062475" y="3864325"/>
            <a:ext cx="3426900" cy="401700"/>
          </a:xfrm>
          <a:prstGeom prst="roundRect">
            <a:avLst>
              <a:gd fmla="val 26475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93C47D"/>
                </a:solidFill>
                <a:latin typeface="Montserrat"/>
                <a:ea typeface="Montserrat"/>
                <a:cs typeface="Montserrat"/>
                <a:sym typeface="Montserrat"/>
              </a:rPr>
              <a:t>Resòmsabilidad fiscal</a:t>
            </a:r>
            <a:endParaRPr sz="900">
              <a:solidFill>
                <a:srgbClr val="93C47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5828818" y="4454950"/>
            <a:ext cx="1894200" cy="401700"/>
          </a:xfrm>
          <a:prstGeom prst="roundRect">
            <a:avLst>
              <a:gd fmla="val 26475" name="adj"/>
            </a:avLst>
          </a:prstGeom>
          <a:solidFill>
            <a:srgbClr val="188038"/>
          </a:solidFill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GENERAR 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129500" y="987950"/>
            <a:ext cx="8903700" cy="4062600"/>
          </a:xfrm>
          <a:prstGeom prst="roundRect">
            <a:avLst>
              <a:gd fmla="val 215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6915167" y="92825"/>
            <a:ext cx="1662900" cy="364500"/>
          </a:xfrm>
          <a:prstGeom prst="roundRect">
            <a:avLst>
              <a:gd fmla="val 16667" name="adj"/>
            </a:avLst>
          </a:prstGeom>
          <a:solidFill>
            <a:srgbClr val="008629"/>
          </a:solidFill>
          <a:ln cap="flat" cmpd="sng" w="9525">
            <a:solidFill>
              <a:srgbClr val="008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BUSCAR</a:t>
            </a:r>
            <a:endParaRPr sz="8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8649534" y="92825"/>
            <a:ext cx="383700" cy="364500"/>
          </a:xfrm>
          <a:prstGeom prst="roundRect">
            <a:avLst>
              <a:gd fmla="val 23333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0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129492" y="92825"/>
            <a:ext cx="67143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Buscar por número de factura. nombre de cliente, proveedor…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2983749" y="540388"/>
            <a:ext cx="13395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Filtrar por fecha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129499" y="540375"/>
            <a:ext cx="13395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Más recientes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1556624" y="540375"/>
            <a:ext cx="13395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Más Antiguas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4410875" y="607725"/>
            <a:ext cx="4628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00862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FACTURA ELECTRÓNICA</a:t>
            </a:r>
            <a:endParaRPr sz="1800">
              <a:solidFill>
                <a:srgbClr val="00862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88100" y="1042734"/>
            <a:ext cx="8986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ID FACTURA			ID CLIENTE			FECHA			NOMBRE CLIENTE			TOTAL		PDF</a:t>
            </a:r>
            <a:endParaRPr sz="8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/>
          <p:nvPr/>
        </p:nvSpPr>
        <p:spPr>
          <a:xfrm>
            <a:off x="129500" y="987950"/>
            <a:ext cx="8903700" cy="4062600"/>
          </a:xfrm>
          <a:prstGeom prst="roundRect">
            <a:avLst>
              <a:gd fmla="val 215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53125" y="1418759"/>
            <a:ext cx="8986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ID FACTURA			ID CLIENTE			FECHA			NOMBRE CLIENTE			TOTAL		PDF</a:t>
            </a:r>
            <a:endParaRPr sz="8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3"/>
          <p:cNvSpPr/>
          <p:nvPr/>
        </p:nvSpPr>
        <p:spPr>
          <a:xfrm>
            <a:off x="6915167" y="92825"/>
            <a:ext cx="1662900" cy="364500"/>
          </a:xfrm>
          <a:prstGeom prst="roundRect">
            <a:avLst>
              <a:gd fmla="val 16667" name="adj"/>
            </a:avLst>
          </a:prstGeom>
          <a:solidFill>
            <a:srgbClr val="008629"/>
          </a:solidFill>
          <a:ln cap="flat" cmpd="sng" w="9525">
            <a:solidFill>
              <a:srgbClr val="008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BUSCAR</a:t>
            </a:r>
            <a:endParaRPr sz="8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8649534" y="92825"/>
            <a:ext cx="383700" cy="364500"/>
          </a:xfrm>
          <a:prstGeom prst="roundRect">
            <a:avLst>
              <a:gd fmla="val 23333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0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129492" y="92825"/>
            <a:ext cx="67143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Buscar por </a:t>
            </a: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número</a:t>
            </a: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de factura. nombre de cliente, proveedor…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2983749" y="540388"/>
            <a:ext cx="13395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Filtrar por fecha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129499" y="540375"/>
            <a:ext cx="13395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Más recientes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1556624" y="540375"/>
            <a:ext cx="13395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Más Antiguas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4410875" y="607725"/>
            <a:ext cx="4628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00862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FACTURAS</a:t>
            </a:r>
            <a:endParaRPr sz="1800">
              <a:solidFill>
                <a:srgbClr val="00862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/>
          <p:nvPr/>
        </p:nvSpPr>
        <p:spPr>
          <a:xfrm>
            <a:off x="129500" y="987950"/>
            <a:ext cx="8903700" cy="4062600"/>
          </a:xfrm>
          <a:prstGeom prst="roundRect">
            <a:avLst>
              <a:gd fmla="val 215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4"/>
          <p:cNvSpPr txBox="1"/>
          <p:nvPr/>
        </p:nvSpPr>
        <p:spPr>
          <a:xfrm>
            <a:off x="53125" y="1418759"/>
            <a:ext cx="8986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ID INVENTARIO			ID CLIENTE			FECHA			NOMBRE CLIENTE			TOTAL		PDF</a:t>
            </a:r>
            <a:endParaRPr sz="8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4"/>
          <p:cNvSpPr/>
          <p:nvPr/>
        </p:nvSpPr>
        <p:spPr>
          <a:xfrm>
            <a:off x="6915167" y="92825"/>
            <a:ext cx="1662900" cy="364500"/>
          </a:xfrm>
          <a:prstGeom prst="roundRect">
            <a:avLst>
              <a:gd fmla="val 16667" name="adj"/>
            </a:avLst>
          </a:prstGeom>
          <a:solidFill>
            <a:srgbClr val="008629"/>
          </a:solidFill>
          <a:ln cap="flat" cmpd="sng" w="9525">
            <a:solidFill>
              <a:srgbClr val="008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BUSCAR</a:t>
            </a:r>
            <a:endParaRPr sz="8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86" name="Google Shape;186;p24"/>
          <p:cNvSpPr/>
          <p:nvPr/>
        </p:nvSpPr>
        <p:spPr>
          <a:xfrm>
            <a:off x="8649534" y="92825"/>
            <a:ext cx="383700" cy="364500"/>
          </a:xfrm>
          <a:prstGeom prst="roundRect">
            <a:avLst>
              <a:gd fmla="val 23333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0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4"/>
          <p:cNvSpPr/>
          <p:nvPr/>
        </p:nvSpPr>
        <p:spPr>
          <a:xfrm>
            <a:off x="129492" y="92825"/>
            <a:ext cx="67143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Buscar por nombre de producto, proveedor…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4"/>
          <p:cNvSpPr/>
          <p:nvPr/>
        </p:nvSpPr>
        <p:spPr>
          <a:xfrm>
            <a:off x="2983749" y="540388"/>
            <a:ext cx="13395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Entradas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129499" y="540375"/>
            <a:ext cx="13395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Pocas existencias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1556624" y="540375"/>
            <a:ext cx="13395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Más existencias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4410875" y="607725"/>
            <a:ext cx="4628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00862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INVENTARIOS</a:t>
            </a:r>
            <a:endParaRPr sz="1800">
              <a:solidFill>
                <a:srgbClr val="00862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/>
          <p:nvPr/>
        </p:nvSpPr>
        <p:spPr>
          <a:xfrm>
            <a:off x="129500" y="987950"/>
            <a:ext cx="8903700" cy="4062600"/>
          </a:xfrm>
          <a:prstGeom prst="roundRect">
            <a:avLst>
              <a:gd fmla="val 215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5"/>
          <p:cNvSpPr txBox="1"/>
          <p:nvPr/>
        </p:nvSpPr>
        <p:spPr>
          <a:xfrm>
            <a:off x="53125" y="1418759"/>
            <a:ext cx="8986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ID INVENTARIO			ID CLIENTE			FECHA			NOMBRE CLIENTE			TOTAL		PDF</a:t>
            </a:r>
            <a:endParaRPr sz="8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6915167" y="92825"/>
            <a:ext cx="1662900" cy="364500"/>
          </a:xfrm>
          <a:prstGeom prst="roundRect">
            <a:avLst>
              <a:gd fmla="val 16667" name="adj"/>
            </a:avLst>
          </a:prstGeom>
          <a:solidFill>
            <a:srgbClr val="008629"/>
          </a:solidFill>
          <a:ln cap="flat" cmpd="sng" w="9525">
            <a:solidFill>
              <a:srgbClr val="008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BUSCAR</a:t>
            </a:r>
            <a:endParaRPr sz="8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8649534" y="92825"/>
            <a:ext cx="383700" cy="364500"/>
          </a:xfrm>
          <a:prstGeom prst="roundRect">
            <a:avLst>
              <a:gd fmla="val 23333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008629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000">
              <a:solidFill>
                <a:srgbClr val="0086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129492" y="92825"/>
            <a:ext cx="67143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Buscar por nombre de producto, proveedor…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2983749" y="540388"/>
            <a:ext cx="13395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Entradas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129499" y="540375"/>
            <a:ext cx="13395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Pocas existencias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1556624" y="540375"/>
            <a:ext cx="1339500" cy="3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Más existencias</a:t>
            </a:r>
            <a:endParaRPr sz="8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5"/>
          <p:cNvSpPr txBox="1"/>
          <p:nvPr/>
        </p:nvSpPr>
        <p:spPr>
          <a:xfrm>
            <a:off x="4410875" y="607725"/>
            <a:ext cx="4628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00862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INVENTARIOS</a:t>
            </a:r>
            <a:endParaRPr sz="1800">
              <a:solidFill>
                <a:srgbClr val="00862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629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/>
          <p:nvPr/>
        </p:nvSpPr>
        <p:spPr>
          <a:xfrm>
            <a:off x="1822049" y="758550"/>
            <a:ext cx="5499900" cy="3626400"/>
          </a:xfrm>
          <a:prstGeom prst="roundRect">
            <a:avLst>
              <a:gd fmla="val 3696" name="adj"/>
            </a:avLst>
          </a:prstGeom>
          <a:solidFill>
            <a:schemeClr val="lt1"/>
          </a:solidFill>
          <a:ln cap="flat" cmpd="sng" w="12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225" lIns="117225" spcFirstLastPara="1" rIns="117225" wrap="square" tIns="11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CUENTA</a:t>
            </a:r>
            <a:endParaRPr>
              <a:solidFill>
                <a:srgbClr val="38761D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